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7" r:id="rId3"/>
  </p:sldMasterIdLst>
  <p:notesMasterIdLst>
    <p:notesMasterId r:id="rId26"/>
  </p:notesMasterIdLst>
  <p:handoutMasterIdLst>
    <p:handoutMasterId r:id="rId27"/>
  </p:handoutMasterIdLst>
  <p:sldIdLst>
    <p:sldId id="574" r:id="rId4"/>
    <p:sldId id="685" r:id="rId5"/>
    <p:sldId id="710" r:id="rId6"/>
    <p:sldId id="711" r:id="rId7"/>
    <p:sldId id="687" r:id="rId8"/>
    <p:sldId id="688" r:id="rId9"/>
    <p:sldId id="689" r:id="rId10"/>
    <p:sldId id="690" r:id="rId11"/>
    <p:sldId id="691" r:id="rId12"/>
    <p:sldId id="692" r:id="rId13"/>
    <p:sldId id="693" r:id="rId14"/>
    <p:sldId id="694" r:id="rId15"/>
    <p:sldId id="695" r:id="rId16"/>
    <p:sldId id="696" r:id="rId17"/>
    <p:sldId id="698" r:id="rId18"/>
    <p:sldId id="702" r:id="rId19"/>
    <p:sldId id="701" r:id="rId20"/>
    <p:sldId id="703" r:id="rId21"/>
    <p:sldId id="697" r:id="rId22"/>
    <p:sldId id="704" r:id="rId23"/>
    <p:sldId id="706" r:id="rId24"/>
    <p:sldId id="709" r:id="rId25"/>
  </p:sldIdLst>
  <p:sldSz cx="9144000" cy="5143500" type="screen16x9"/>
  <p:notesSz cx="6858000" cy="9144000"/>
  <p:custDataLst>
    <p:tags r:id="rId32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E2A6164-6C94-4D72-A808-DBA72125A748}">
          <p14:sldIdLst>
            <p14:sldId id="574"/>
            <p14:sldId id="685"/>
            <p14:sldId id="710"/>
            <p14:sldId id="711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8"/>
            <p14:sldId id="702"/>
            <p14:sldId id="701"/>
            <p14:sldId id="703"/>
            <p14:sldId id="697"/>
            <p14:sldId id="704"/>
            <p14:sldId id="706"/>
            <p14:sldId id="709"/>
          </p14:sldIdLst>
        </p14:section>
      </p14:sectionLst>
    </p:ext>
    <p:ext uri="{EFAFB233-063F-42B5-8137-9DF3F51BA10A}">
      <p15:sldGuideLst xmlns:p15="http://schemas.microsoft.com/office/powerpoint/2012/main">
        <p15:guide id="1" pos="5012" userDrawn="1">
          <p15:clr>
            <a:srgbClr val="A4A3A4"/>
          </p15:clr>
        </p15:guide>
        <p15:guide id="2" orient="horz" pos="663" userDrawn="1">
          <p15:clr>
            <a:srgbClr val="A4A3A4"/>
          </p15:clr>
        </p15:guide>
        <p15:guide id="3" orient="horz" pos="3046" userDrawn="1">
          <p15:clr>
            <a:srgbClr val="A4A3A4"/>
          </p15:clr>
        </p15:guide>
        <p15:guide id="4" orient="horz" pos="3046" userDrawn="1">
          <p15:clr>
            <a:srgbClr val="A4A3A4"/>
          </p15:clr>
        </p15:guide>
        <p15:guide id="5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3811"/>
    <a:srgbClr val="EC5630"/>
    <a:srgbClr val="FFF2F1"/>
    <a:srgbClr val="71687A"/>
    <a:srgbClr val="D66650"/>
    <a:srgbClr val="FACFC4"/>
    <a:srgbClr val="FEECEA"/>
    <a:srgbClr val="FFF2F2"/>
    <a:srgbClr val="79A2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46" y="67"/>
      </p:cViewPr>
      <p:guideLst>
        <p:guide pos="5012"/>
        <p:guide orient="horz" pos="663"/>
        <p:guide orient="horz" pos="3046"/>
        <p:guide orient="horz" pos="3046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28600" y="3213653"/>
            <a:ext cx="4343400" cy="1663148"/>
          </a:xfrm>
          <a:prstGeom prst="roundRect">
            <a:avLst>
              <a:gd name="adj" fmla="val 635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28600" y="1027045"/>
            <a:ext cx="3813313" cy="2411894"/>
          </a:xfrm>
          <a:prstGeom prst="roundRect">
            <a:avLst>
              <a:gd name="adj" fmla="val 635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355600" y="1111412"/>
            <a:ext cx="2711245" cy="1615885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2"/>
          <p:cNvSpPr>
            <a:spLocks noGrp="1"/>
          </p:cNvSpPr>
          <p:nvPr>
            <p:ph type="pic" sz="quarter" idx="21"/>
          </p:nvPr>
        </p:nvSpPr>
        <p:spPr>
          <a:xfrm>
            <a:off x="3210028" y="1111412"/>
            <a:ext cx="2711245" cy="1615885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2"/>
          <p:cNvSpPr>
            <a:spLocks noGrp="1"/>
          </p:cNvSpPr>
          <p:nvPr>
            <p:ph type="pic" sz="quarter" idx="22"/>
          </p:nvPr>
        </p:nvSpPr>
        <p:spPr>
          <a:xfrm>
            <a:off x="6064455" y="1111412"/>
            <a:ext cx="2711245" cy="1615885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2"/>
          <p:cNvSpPr>
            <a:spLocks noGrp="1"/>
          </p:cNvSpPr>
          <p:nvPr>
            <p:ph type="pic" sz="quarter" idx="22"/>
          </p:nvPr>
        </p:nvSpPr>
        <p:spPr>
          <a:xfrm>
            <a:off x="3321255" y="947530"/>
            <a:ext cx="5299284" cy="2782957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28600" y="923731"/>
            <a:ext cx="8686800" cy="1812897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4"/>
          <p:cNvPicPr>
            <a:picLocks noChangeAspect="1"/>
          </p:cNvPicPr>
          <p:nvPr userDrawn="1"/>
        </p:nvPicPr>
        <p:blipFill>
          <a:blip r:embed="rId2"/>
          <a:srcRect l="3716" t="3954" r="8175" b="40833"/>
          <a:stretch>
            <a:fillRect/>
          </a:stretch>
        </p:blipFill>
        <p:spPr>
          <a:xfrm>
            <a:off x="0" y="0"/>
            <a:ext cx="12198350" cy="6873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2F2"/>
            </a:gs>
            <a:gs pos="100000">
              <a:srgbClr val="FEECE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黑体 CN Normal" panose="020B0400000000000000" charset="-122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.jpe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2111" y="4297909"/>
            <a:ext cx="8520112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44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4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5893904" y="0"/>
            <a:ext cx="3250096" cy="3021496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42526" y="1822539"/>
            <a:ext cx="4689914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bert</a:t>
            </a:r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架构与</a:t>
            </a:r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应用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48323" y="3432743"/>
            <a:ext cx="226247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贺德</a:t>
            </a:r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涛</a:t>
            </a:r>
            <a:endParaRPr lang="zh-CN" altLang="en-US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638800" y="0"/>
            <a:ext cx="35051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351" y="4565879"/>
            <a:ext cx="8520112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44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4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5893904" y="0"/>
            <a:ext cx="3250096" cy="3021496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53415" y="3720161"/>
            <a:ext cx="2386321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应用示例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6395" y="935595"/>
            <a:ext cx="7915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effectLst/>
              </a:rPr>
              <a:t>01</a:t>
            </a:r>
            <a:endParaRPr lang="zh-CN" altLang="en-US" sz="3600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effectLst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3416" y="1069317"/>
            <a:ext cx="178531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自然语言</a:t>
            </a:r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发展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06395" y="1814765"/>
            <a:ext cx="7915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effectLst/>
              </a:rPr>
              <a:t>02</a:t>
            </a:r>
            <a:endParaRPr lang="zh-CN" altLang="en-US" sz="3600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effectLst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53180" y="1946275"/>
            <a:ext cx="204025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transformer</a:t>
            </a:r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架构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06395" y="2693935"/>
            <a:ext cx="7915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effectLst/>
              </a:rPr>
              <a:t>03</a:t>
            </a:r>
            <a:endParaRPr lang="zh-CN" altLang="en-US" sz="3600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effectLst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06395" y="3579277"/>
            <a:ext cx="7915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effectLst/>
              </a:rPr>
              <a:t>04</a:t>
            </a:r>
            <a:endParaRPr lang="zh-CN" altLang="en-US" sz="3600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effectLst/>
            </a:endParaRPr>
          </a:p>
        </p:txBody>
      </p:sp>
      <p:sp>
        <p:nvSpPr>
          <p:cNvPr id="26" name="任意多边形: 形状 25"/>
          <p:cNvSpPr/>
          <p:nvPr/>
        </p:nvSpPr>
        <p:spPr>
          <a:xfrm rot="10800000">
            <a:off x="0" y="3896710"/>
            <a:ext cx="1341120" cy="1246790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395288" y="2508472"/>
            <a:ext cx="199231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800">
                <a:ln w="38100">
                  <a:noFill/>
                </a:ln>
                <a:solidFill>
                  <a:srgbClr val="71687A"/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  <a:endParaRPr lang="zh-CN" altLang="en-US" sz="1800">
              <a:ln w="38100">
                <a:noFill/>
              </a:ln>
              <a:solidFill>
                <a:srgbClr val="71687A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5288" y="1765740"/>
            <a:ext cx="1584959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defTabSz="457200">
              <a:defRPr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4400">
                <a:sym typeface="思源黑体 CN Normal" panose="020B0400000000000000" charset="-122"/>
              </a:rPr>
              <a:t>目录</a:t>
            </a:r>
            <a:endParaRPr lang="zh-CN" altLang="en-US" sz="4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638800" y="0"/>
            <a:ext cx="3505199" cy="51435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898500" y="2833066"/>
            <a:ext cx="2386321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bert</a:t>
            </a:r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架构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eepseek_mermaid_20251213_158cc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0" y="1022350"/>
            <a:ext cx="8308975" cy="32683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3741" y="186344"/>
            <a:ext cx="3326967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nlp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模型发展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时间线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88326" y="109509"/>
            <a:ext cx="3326967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主要模型介绍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对比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321771"/>
            <a:ext cx="9144000" cy="1885950"/>
          </a:xfrm>
          <a:prstGeom prst="rect">
            <a:avLst/>
          </a:pr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2943" y="1688982"/>
            <a:ext cx="4984424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914400">
              <a:defRPr sz="4800">
                <a:ln w="19050">
                  <a:noFill/>
                </a:ln>
                <a:gradFill>
                  <a:gsLst>
                    <a:gs pos="0">
                      <a:srgbClr val="F7E7E1"/>
                    </a:gs>
                    <a:gs pos="72000">
                      <a:srgbClr val="FCC896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400">
                <a:solidFill>
                  <a:schemeClr val="bg1"/>
                </a:solidFill>
              </a:rPr>
              <a:t>金山办公软件有限公司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4736" y="2160135"/>
            <a:ext cx="4523014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28600" y="3480781"/>
            <a:ext cx="2830275" cy="1266626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22121" y="3874558"/>
            <a:ext cx="2346848" cy="74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2121" y="357775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3156862" y="3480781"/>
            <a:ext cx="2830275" cy="1266626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350383" y="3874558"/>
            <a:ext cx="2346848" cy="74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350383" y="357775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085125" y="3480781"/>
            <a:ext cx="2830275" cy="1266626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278646" y="3874558"/>
            <a:ext cx="2346848" cy="74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278646" y="357775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340759" y="292918"/>
            <a:ext cx="3375538" cy="291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28600" y="1070186"/>
            <a:ext cx="4343400" cy="2052321"/>
          </a:xfrm>
          <a:prstGeom prst="roundRect">
            <a:avLst>
              <a:gd name="adj" fmla="val 4496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67271" y="1238525"/>
            <a:ext cx="2871921" cy="43442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latin typeface="+mj-ea"/>
                <a:ea typeface="+mj-ea"/>
              </a:rPr>
              <a:t>金山办公软件有限公司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4274" y="1736799"/>
            <a:ext cx="4102205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4274" y="2522506"/>
            <a:ext cx="4102205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947435" y="1170347"/>
            <a:ext cx="521547" cy="521547"/>
          </a:xfrm>
          <a:prstGeom prst="ellipse">
            <a:avLst/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508411" y="1455738"/>
            <a:ext cx="344545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508411" y="115893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947435" y="2570733"/>
            <a:ext cx="521547" cy="521547"/>
          </a:xfrm>
          <a:prstGeom prst="ellipse">
            <a:avLst/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508411" y="2856124"/>
            <a:ext cx="344545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508411" y="2559323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4947435" y="3971118"/>
            <a:ext cx="521547" cy="521547"/>
          </a:xfrm>
          <a:prstGeom prst="ellipse">
            <a:avLst/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508411" y="4256509"/>
            <a:ext cx="344545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508411" y="3959708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pic>
        <p:nvPicPr>
          <p:cNvPr id="11" name="图片 1" descr="32313534313136373b32313534313136363bd7dcbde1"/>
          <p:cNvPicPr>
            <a:picLocks noChangeAspect="1"/>
          </p:cNvPicPr>
          <p:nvPr/>
        </p:nvPicPr>
        <p:blipFill>
          <a:blip r:embed="rId1"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1120" y="1312245"/>
            <a:ext cx="214176" cy="214176"/>
          </a:xfrm>
          <a:prstGeom prst="rect">
            <a:avLst/>
          </a:prstGeom>
        </p:spPr>
      </p:pic>
      <p:pic>
        <p:nvPicPr>
          <p:cNvPr id="13" name="图片 11" descr="32313534313136373b32313534313135373bc4bfb1ea"/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1120" y="2724418"/>
            <a:ext cx="214176" cy="214176"/>
          </a:xfrm>
          <a:prstGeom prst="rect">
            <a:avLst/>
          </a:prstGeom>
        </p:spPr>
      </p:pic>
      <p:pic>
        <p:nvPicPr>
          <p:cNvPr id="14" name="图片 17" descr="32313534313136373b32313534313136333bcdc5b6d3"/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1120" y="4124803"/>
            <a:ext cx="214176" cy="214176"/>
          </a:xfrm>
          <a:prstGeom prst="rect">
            <a:avLst/>
          </a:prstGeom>
        </p:spPr>
      </p:pic>
      <p:pic>
        <p:nvPicPr>
          <p:cNvPr id="16" name="图片占位符 15"/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7" cstate="print"/>
          <a:srcRect/>
          <a:stretch>
            <a:fillRect/>
          </a:stretch>
        </p:blipFill>
        <p:spPr>
          <a:xfrm>
            <a:off x="228600" y="3213653"/>
            <a:ext cx="4343400" cy="1663148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836967" y="645315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董事会</a:t>
            </a:r>
            <a:endParaRPr lang="zh-CN" altLang="en-US" sz="1600">
              <a:latin typeface="+mj-ea"/>
              <a:ea typeface="+mj-ea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4572000" y="996401"/>
            <a:ext cx="0" cy="314789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/>
        </p:nvSpPr>
        <p:spPr>
          <a:xfrm>
            <a:off x="3836966" y="1345436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总经理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2280" y="1663533"/>
            <a:ext cx="4440406" cy="537726"/>
            <a:chOff x="1794931" y="2226771"/>
            <a:chExt cx="5554136" cy="604482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4571999" y="2226771"/>
              <a:ext cx="0" cy="321897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1323680" y="2582458"/>
            <a:ext cx="2052205" cy="284169"/>
            <a:chOff x="1794931" y="2226771"/>
            <a:chExt cx="5554136" cy="604482"/>
          </a:xfrm>
        </p:grpSpPr>
        <p:cxnSp>
          <p:nvCxnSpPr>
            <p:cNvPr id="46" name="直接连接符 45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: 圆角 27"/>
          <p:cNvSpPr/>
          <p:nvPr/>
        </p:nvSpPr>
        <p:spPr>
          <a:xfrm>
            <a:off x="1625956" y="2303461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行政总监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566058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财务部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2664823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行政部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766284" y="2582458"/>
            <a:ext cx="2052205" cy="284169"/>
            <a:chOff x="1794931" y="2226771"/>
            <a:chExt cx="5554136" cy="604482"/>
          </a:xfrm>
        </p:grpSpPr>
        <p:cxnSp>
          <p:nvCxnSpPr>
            <p:cNvPr id="62" name="直接连接符 61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直接箭头连接符 1023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直接箭头连接符 1024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: 圆角 58"/>
          <p:cNvSpPr/>
          <p:nvPr/>
        </p:nvSpPr>
        <p:spPr>
          <a:xfrm>
            <a:off x="6068560" y="2303461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市场总监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5008662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企划部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7099051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营销部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37" name="组合 1036"/>
          <p:cNvGrpSpPr/>
          <p:nvPr/>
        </p:nvGrpSpPr>
        <p:grpSpPr>
          <a:xfrm>
            <a:off x="786792" y="3247486"/>
            <a:ext cx="1039483" cy="284169"/>
            <a:chOff x="1794931" y="2226771"/>
            <a:chExt cx="5554136" cy="604482"/>
          </a:xfrm>
        </p:grpSpPr>
        <p:cxnSp>
          <p:nvCxnSpPr>
            <p:cNvPr id="1038" name="直接连接符 1037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直接箭头连接符 1038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直接箭头连接符 1039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直接箭头连接符 1040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2" name="矩形: 圆角 1041"/>
          <p:cNvSpPr/>
          <p:nvPr/>
        </p:nvSpPr>
        <p:spPr>
          <a:xfrm rot="5400000">
            <a:off x="160590" y="4009908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会计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43" name="矩形: 圆角 1042"/>
          <p:cNvSpPr/>
          <p:nvPr/>
        </p:nvSpPr>
        <p:spPr>
          <a:xfrm rot="5400000">
            <a:off x="1196282" y="4005066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出纳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44" name="组合 1043"/>
          <p:cNvGrpSpPr/>
          <p:nvPr/>
        </p:nvGrpSpPr>
        <p:grpSpPr>
          <a:xfrm>
            <a:off x="2884651" y="3247486"/>
            <a:ext cx="1039483" cy="284169"/>
            <a:chOff x="1794931" y="2226771"/>
            <a:chExt cx="5554136" cy="604482"/>
          </a:xfrm>
        </p:grpSpPr>
        <p:cxnSp>
          <p:nvCxnSpPr>
            <p:cNvPr id="1045" name="直接连接符 1044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直接箭头连接符 1045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直接箭头连接符 1046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直接箭头连接符 1047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9" name="矩形: 圆角 1048"/>
          <p:cNvSpPr/>
          <p:nvPr/>
        </p:nvSpPr>
        <p:spPr>
          <a:xfrm rot="5400000">
            <a:off x="2259353" y="4007489"/>
            <a:ext cx="1250478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人事行政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50" name="矩形: 圆角 1049"/>
          <p:cNvSpPr/>
          <p:nvPr/>
        </p:nvSpPr>
        <p:spPr>
          <a:xfrm rot="5400000">
            <a:off x="3298639" y="4016408"/>
            <a:ext cx="1273158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仓储后勤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56" name="组合 1055"/>
          <p:cNvGrpSpPr/>
          <p:nvPr/>
        </p:nvGrpSpPr>
        <p:grpSpPr>
          <a:xfrm>
            <a:off x="5211835" y="3262011"/>
            <a:ext cx="1039483" cy="284169"/>
            <a:chOff x="1794931" y="2226771"/>
            <a:chExt cx="5554136" cy="604482"/>
          </a:xfrm>
        </p:grpSpPr>
        <p:cxnSp>
          <p:nvCxnSpPr>
            <p:cNvPr id="1059" name="直接连接符 1058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直接箭头连接符 1059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接箭头连接符 1060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接箭头连接符 1061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7" name="矩形: 圆角 1056"/>
          <p:cNvSpPr/>
          <p:nvPr/>
        </p:nvSpPr>
        <p:spPr>
          <a:xfrm rot="5400000">
            <a:off x="4585633" y="4024433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策划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58" name="矩形: 圆角 1057"/>
          <p:cNvSpPr/>
          <p:nvPr/>
        </p:nvSpPr>
        <p:spPr>
          <a:xfrm rot="5400000">
            <a:off x="5621325" y="4019591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企宣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64" name="组合 1063"/>
          <p:cNvGrpSpPr/>
          <p:nvPr/>
        </p:nvGrpSpPr>
        <p:grpSpPr>
          <a:xfrm>
            <a:off x="7314343" y="3262011"/>
            <a:ext cx="1039483" cy="284169"/>
            <a:chOff x="1794931" y="2226771"/>
            <a:chExt cx="5554136" cy="604482"/>
          </a:xfrm>
        </p:grpSpPr>
        <p:cxnSp>
          <p:nvCxnSpPr>
            <p:cNvPr id="1067" name="直接连接符 1066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直接箭头连接符 1067"/>
            <p:cNvCxnSpPr/>
            <p:nvPr/>
          </p:nvCxnSpPr>
          <p:spPr>
            <a:xfrm>
              <a:off x="4572002" y="2226771"/>
              <a:ext cx="0" cy="601151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直接箭头连接符 1068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直接箭头连接符 1069"/>
            <p:cNvCxnSpPr/>
            <p:nvPr/>
          </p:nvCxnSpPr>
          <p:spPr>
            <a:xfrm>
              <a:off x="734906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5" name="矩形: 圆角 1064"/>
          <p:cNvSpPr/>
          <p:nvPr/>
        </p:nvSpPr>
        <p:spPr>
          <a:xfrm rot="5400000">
            <a:off x="6716511" y="4024433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销售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66" name="矩形: 圆角 1065"/>
          <p:cNvSpPr/>
          <p:nvPr/>
        </p:nvSpPr>
        <p:spPr>
          <a:xfrm rot="5400000">
            <a:off x="7752203" y="4019591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技术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73" name="矩形: 圆角 1072"/>
          <p:cNvSpPr/>
          <p:nvPr/>
        </p:nvSpPr>
        <p:spPr>
          <a:xfrm rot="5400000">
            <a:off x="7229688" y="4019591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采购</a:t>
            </a:r>
            <a:endParaRPr lang="zh-CN" altLang="en-US" sz="16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54176" y="1297243"/>
            <a:ext cx="3212850" cy="79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 kern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54176" y="1000248"/>
            <a:ext cx="14891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稻小壳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54176" y="2756319"/>
            <a:ext cx="3212850" cy="79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 kern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54176" y="2459324"/>
            <a:ext cx="14891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稻小壳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54176" y="4082480"/>
            <a:ext cx="3212850" cy="79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 kern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54176" y="3785485"/>
            <a:ext cx="14891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稻小壳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606518" y="1036793"/>
            <a:ext cx="1034896" cy="1034896"/>
            <a:chOff x="178025" y="922492"/>
            <a:chExt cx="1165253" cy="1165253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1" cstate="print"/>
            <a:srcRect/>
            <a:stretch>
              <a:fillRect/>
            </a:stretch>
          </p:blipFill>
          <p:spPr>
            <a:xfrm>
              <a:off x="238764" y="983231"/>
              <a:ext cx="1043774" cy="1043774"/>
            </a:xfrm>
            <a:prstGeom prst="ellipse">
              <a:avLst/>
            </a:prstGeom>
          </p:spPr>
        </p:pic>
        <p:sp>
          <p:nvSpPr>
            <p:cNvPr id="18" name="椭圆 17"/>
            <p:cNvSpPr/>
            <p:nvPr/>
          </p:nvSpPr>
          <p:spPr>
            <a:xfrm>
              <a:off x="178025" y="922492"/>
              <a:ext cx="1165253" cy="1165253"/>
            </a:xfrm>
            <a:prstGeom prst="ellipse">
              <a:avLst/>
            </a:prstGeom>
            <a:noFill/>
            <a:ln>
              <a:solidFill>
                <a:srgbClr val="EC56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586287" y="2460992"/>
            <a:ext cx="1034896" cy="1034896"/>
            <a:chOff x="157794" y="2346691"/>
            <a:chExt cx="1165253" cy="1165253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2" cstate="print"/>
            <a:srcRect/>
            <a:stretch>
              <a:fillRect/>
            </a:stretch>
          </p:blipFill>
          <p:spPr>
            <a:xfrm>
              <a:off x="228600" y="2407037"/>
              <a:ext cx="1044560" cy="1044560"/>
            </a:xfrm>
            <a:prstGeom prst="ellipse">
              <a:avLst/>
            </a:prstGeom>
          </p:spPr>
        </p:pic>
        <p:sp>
          <p:nvSpPr>
            <p:cNvPr id="22" name="椭圆 21"/>
            <p:cNvSpPr/>
            <p:nvPr/>
          </p:nvSpPr>
          <p:spPr>
            <a:xfrm>
              <a:off x="157794" y="2346691"/>
              <a:ext cx="1165253" cy="1165253"/>
            </a:xfrm>
            <a:prstGeom prst="ellipse">
              <a:avLst/>
            </a:prstGeom>
            <a:noFill/>
            <a:ln>
              <a:solidFill>
                <a:srgbClr val="EC56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572000" y="3782042"/>
            <a:ext cx="1034896" cy="1034896"/>
            <a:chOff x="143507" y="3789728"/>
            <a:chExt cx="1165253" cy="1165253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3" cstate="print"/>
            <a:srcRect/>
            <a:stretch>
              <a:fillRect/>
            </a:stretch>
          </p:blipFill>
          <p:spPr>
            <a:xfrm>
              <a:off x="203853" y="3850074"/>
              <a:ext cx="1044560" cy="1044560"/>
            </a:xfrm>
            <a:prstGeom prst="ellipse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143507" y="3789728"/>
              <a:ext cx="1165253" cy="1165253"/>
            </a:xfrm>
            <a:prstGeom prst="ellipse">
              <a:avLst/>
            </a:prstGeom>
            <a:noFill/>
            <a:ln>
              <a:solidFill>
                <a:srgbClr val="EC56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470543" y="1056713"/>
            <a:ext cx="694623" cy="230832"/>
            <a:chOff x="6555697" y="1056713"/>
            <a:chExt cx="694623" cy="230832"/>
          </a:xfrm>
        </p:grpSpPr>
        <p:sp>
          <p:nvSpPr>
            <p:cNvPr id="27" name="矩形: 圆角 26"/>
            <p:cNvSpPr/>
            <p:nvPr/>
          </p:nvSpPr>
          <p:spPr>
            <a:xfrm>
              <a:off x="6600993" y="1082921"/>
              <a:ext cx="604031" cy="18426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">
                <a:latin typeface="+mj-ea"/>
                <a:ea typeface="+mj-ea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555697" y="1056713"/>
              <a:ext cx="6946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9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总经理</a:t>
              </a:r>
              <a:endParaRPr lang="zh-CN" altLang="en-US" sz="9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470543" y="2516509"/>
            <a:ext cx="694623" cy="230832"/>
            <a:chOff x="6555697" y="1056713"/>
            <a:chExt cx="694623" cy="230832"/>
          </a:xfrm>
        </p:grpSpPr>
        <p:sp>
          <p:nvSpPr>
            <p:cNvPr id="32" name="矩形: 圆角 31"/>
            <p:cNvSpPr/>
            <p:nvPr/>
          </p:nvSpPr>
          <p:spPr>
            <a:xfrm>
              <a:off x="6600993" y="1082921"/>
              <a:ext cx="604031" cy="18426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">
                <a:latin typeface="+mj-ea"/>
                <a:ea typeface="+mj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555697" y="1056713"/>
              <a:ext cx="6946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9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行政总监</a:t>
              </a:r>
              <a:endParaRPr lang="zh-CN" altLang="en-US" sz="9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470543" y="3828297"/>
            <a:ext cx="694623" cy="230832"/>
            <a:chOff x="6555697" y="1056713"/>
            <a:chExt cx="694623" cy="230832"/>
          </a:xfrm>
        </p:grpSpPr>
        <p:sp>
          <p:nvSpPr>
            <p:cNvPr id="35" name="矩形: 圆角 34"/>
            <p:cNvSpPr/>
            <p:nvPr/>
          </p:nvSpPr>
          <p:spPr>
            <a:xfrm>
              <a:off x="6600993" y="1082921"/>
              <a:ext cx="604031" cy="18426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">
                <a:latin typeface="+mj-ea"/>
                <a:ea typeface="+mj-ea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555697" y="1056713"/>
              <a:ext cx="6946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9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市场总监</a:t>
              </a:r>
              <a:endParaRPr lang="zh-CN" altLang="en-US" sz="9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6" name="矩形: 圆角 25"/>
          <p:cNvSpPr/>
          <p:nvPr/>
        </p:nvSpPr>
        <p:spPr>
          <a:xfrm>
            <a:off x="228600" y="3578942"/>
            <a:ext cx="3822290" cy="1247058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36755" y="3660923"/>
            <a:ext cx="3635477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pic>
        <p:nvPicPr>
          <p:cNvPr id="14" name="图片占位符 13"/>
          <p:cNvPicPr>
            <a:picLocks noGrp="1" noChangeAspect="1"/>
          </p:cNvPicPr>
          <p:nvPr>
            <p:ph type="pic" sz="quarter" idx="20"/>
          </p:nvPr>
        </p:nvPicPr>
        <p:blipFill>
          <a:blip r:embed="rId4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-1" y="0"/>
            <a:ext cx="4267197" cy="5143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YOUR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LOGO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7325360" y="0"/>
            <a:ext cx="1818639" cy="169072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52760" y="2079820"/>
            <a:ext cx="40780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关于企业文化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752760" y="1450466"/>
            <a:ext cx="315082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i="1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latin typeface="+mj-ea"/>
                <a:ea typeface="+mj-ea"/>
                <a:sym typeface="思源黑体 CN Normal" panose="020B0400000000000000" charset="-122"/>
              </a:rPr>
              <a:t>PART TWO</a:t>
            </a:r>
            <a:endParaRPr lang="zh-CN" altLang="en-US" sz="3600" i="1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5012" y="3047189"/>
            <a:ext cx="4785859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919583" y="2949304"/>
            <a:ext cx="4486366" cy="0"/>
          </a:xfrm>
          <a:prstGeom prst="line">
            <a:avLst/>
          </a:prstGeom>
          <a:ln>
            <a:solidFill>
              <a:srgbClr val="716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 rot="10800000">
            <a:off x="0" y="3558988"/>
            <a:ext cx="1704393" cy="158451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87123" y="4826000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金山办公软件有限公司</a:t>
            </a:r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7541" y="4107359"/>
            <a:ext cx="85201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r"/>
            <a:r>
              <a:rPr lang="en-US" altLang="zh-CN" sz="40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0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/>
        </p:nvSpPr>
        <p:spPr>
          <a:xfrm>
            <a:off x="0" y="4157472"/>
            <a:ext cx="9144000" cy="986028"/>
          </a:xfrm>
          <a:custGeom>
            <a:avLst/>
            <a:gdLst>
              <a:gd name="connsiteX0" fmla="*/ 365767 w 9144000"/>
              <a:gd name="connsiteY0" fmla="*/ 0 h 986028"/>
              <a:gd name="connsiteX1" fmla="*/ 8778233 w 9144000"/>
              <a:gd name="connsiteY1" fmla="*/ 0 h 986028"/>
              <a:gd name="connsiteX2" fmla="*/ 9144000 w 9144000"/>
              <a:gd name="connsiteY2" fmla="*/ 365767 h 986028"/>
              <a:gd name="connsiteX3" fmla="*/ 9144000 w 9144000"/>
              <a:gd name="connsiteY3" fmla="*/ 986028 h 986028"/>
              <a:gd name="connsiteX4" fmla="*/ 0 w 9144000"/>
              <a:gd name="connsiteY4" fmla="*/ 986028 h 986028"/>
              <a:gd name="connsiteX5" fmla="*/ 0 w 9144000"/>
              <a:gd name="connsiteY5" fmla="*/ 365767 h 986028"/>
              <a:gd name="connsiteX6" fmla="*/ 365767 w 9144000"/>
              <a:gd name="connsiteY6" fmla="*/ 0 h 98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986028">
                <a:moveTo>
                  <a:pt x="365767" y="0"/>
                </a:moveTo>
                <a:lnTo>
                  <a:pt x="8778233" y="0"/>
                </a:lnTo>
                <a:cubicBezTo>
                  <a:pt x="8980241" y="0"/>
                  <a:pt x="9144000" y="163759"/>
                  <a:pt x="9144000" y="365767"/>
                </a:cubicBezTo>
                <a:lnTo>
                  <a:pt x="9144000" y="986028"/>
                </a:lnTo>
                <a:lnTo>
                  <a:pt x="0" y="986028"/>
                </a:lnTo>
                <a:lnTo>
                  <a:pt x="0" y="365767"/>
                </a:lnTo>
                <a:cubicBezTo>
                  <a:pt x="0" y="163759"/>
                  <a:pt x="163759" y="0"/>
                  <a:pt x="365767" y="0"/>
                </a:cubicBezTo>
                <a:close/>
              </a:path>
            </a:pathLst>
          </a:cu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311944" y="4371975"/>
            <a:ext cx="852011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99091" y="1251705"/>
            <a:ext cx="2623130" cy="1009250"/>
            <a:chOff x="929540" y="1307312"/>
            <a:chExt cx="2623130" cy="1009250"/>
          </a:xfrm>
        </p:grpSpPr>
        <p:sp>
          <p:nvSpPr>
            <p:cNvPr id="51" name="矩形 50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9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021780" y="1251705"/>
            <a:ext cx="2623130" cy="1009250"/>
            <a:chOff x="929540" y="1307312"/>
            <a:chExt cx="2623130" cy="1009250"/>
          </a:xfrm>
        </p:grpSpPr>
        <p:sp>
          <p:nvSpPr>
            <p:cNvPr id="16" name="矩形 15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20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1499091" y="2724158"/>
            <a:ext cx="2623130" cy="1009250"/>
            <a:chOff x="929540" y="1307312"/>
            <a:chExt cx="2623130" cy="1009250"/>
          </a:xfrm>
        </p:grpSpPr>
        <p:sp>
          <p:nvSpPr>
            <p:cNvPr id="24" name="矩形 23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29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5021780" y="2724158"/>
            <a:ext cx="2623130" cy="1009250"/>
            <a:chOff x="929540" y="1307312"/>
            <a:chExt cx="2623130" cy="1009250"/>
          </a:xfrm>
        </p:grpSpPr>
        <p:sp>
          <p:nvSpPr>
            <p:cNvPr id="32" name="矩形 31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35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19585" y="1499194"/>
            <a:ext cx="2704830" cy="2704830"/>
            <a:chOff x="3024166" y="1276307"/>
            <a:chExt cx="3095668" cy="3095668"/>
          </a:xfrm>
        </p:grpSpPr>
        <p:sp>
          <p:nvSpPr>
            <p:cNvPr id="2" name="椭圆 1"/>
            <p:cNvSpPr/>
            <p:nvPr/>
          </p:nvSpPr>
          <p:spPr>
            <a:xfrm>
              <a:off x="3601616" y="1853757"/>
              <a:ext cx="1940768" cy="1940768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8" name="弧形 7"/>
            <p:cNvSpPr/>
            <p:nvPr/>
          </p:nvSpPr>
          <p:spPr>
            <a:xfrm>
              <a:off x="3312000" y="1564141"/>
              <a:ext cx="2520000" cy="2520000"/>
            </a:xfrm>
            <a:prstGeom prst="arc">
              <a:avLst>
                <a:gd name="adj1" fmla="val 13344917"/>
                <a:gd name="adj2" fmla="val 8497078"/>
              </a:avLst>
            </a:prstGeom>
            <a:ln w="28575">
              <a:gradFill flip="none" rotWithShape="1">
                <a:gsLst>
                  <a:gs pos="0">
                    <a:srgbClr val="C53811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/>
          </p:nvSpPr>
          <p:spPr>
            <a:xfrm rot="11700000">
              <a:off x="3024166" y="1276307"/>
              <a:ext cx="3095668" cy="3095668"/>
            </a:xfrm>
            <a:prstGeom prst="arc">
              <a:avLst>
                <a:gd name="adj1" fmla="val 13344917"/>
                <a:gd name="adj2" fmla="val 8497078"/>
              </a:avLst>
            </a:prstGeom>
            <a:ln w="28575">
              <a:gradFill flip="none" rotWithShape="1">
                <a:gsLst>
                  <a:gs pos="0">
                    <a:srgbClr val="C53811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87062" y="1807525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53097" y="1259633"/>
            <a:ext cx="1681545" cy="447869"/>
            <a:chOff x="1147824" y="1306286"/>
            <a:chExt cx="1681545" cy="447869"/>
          </a:xfrm>
        </p:grpSpPr>
        <p:sp>
          <p:nvSpPr>
            <p:cNvPr id="12" name="矩形: 圆角 11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87062" y="3776284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53097" y="3228392"/>
            <a:ext cx="1681545" cy="447869"/>
            <a:chOff x="1147824" y="1306286"/>
            <a:chExt cx="1681545" cy="447869"/>
          </a:xfrm>
        </p:grpSpPr>
        <p:sp>
          <p:nvSpPr>
            <p:cNvPr id="20" name="矩形: 圆角 19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106727" y="1807525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106727" y="1259633"/>
            <a:ext cx="1681545" cy="447869"/>
            <a:chOff x="1147824" y="1306286"/>
            <a:chExt cx="1681545" cy="447869"/>
          </a:xfrm>
        </p:grpSpPr>
        <p:sp>
          <p:nvSpPr>
            <p:cNvPr id="25" name="矩形: 圆角 24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106727" y="3776284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106727" y="3228392"/>
            <a:ext cx="1681545" cy="447869"/>
            <a:chOff x="1147824" y="1306286"/>
            <a:chExt cx="1681545" cy="447869"/>
          </a:xfrm>
        </p:grpSpPr>
        <p:sp>
          <p:nvSpPr>
            <p:cNvPr id="31" name="矩形: 圆角 30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3894996" y="2190021"/>
            <a:ext cx="1354007" cy="1354007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73225" y="2855167"/>
            <a:ext cx="2491273" cy="1970833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5171" y="3610895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78089" y="3017517"/>
            <a:ext cx="1681545" cy="447869"/>
            <a:chOff x="1147824" y="1306286"/>
            <a:chExt cx="1681545" cy="447869"/>
          </a:xfrm>
        </p:grpSpPr>
        <p:sp>
          <p:nvSpPr>
            <p:cNvPr id="17" name="矩形: 圆角 16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34" name="矩形: 圆角 33"/>
          <p:cNvSpPr/>
          <p:nvPr/>
        </p:nvSpPr>
        <p:spPr>
          <a:xfrm>
            <a:off x="3352023" y="2855167"/>
            <a:ext cx="2491273" cy="1970833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533969" y="3610895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756887" y="3017517"/>
            <a:ext cx="1681545" cy="447869"/>
            <a:chOff x="1147824" y="1306286"/>
            <a:chExt cx="1681545" cy="447869"/>
          </a:xfrm>
        </p:grpSpPr>
        <p:sp>
          <p:nvSpPr>
            <p:cNvPr id="37" name="矩形: 圆角 36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40" name="矩形: 圆角 39"/>
          <p:cNvSpPr/>
          <p:nvPr/>
        </p:nvSpPr>
        <p:spPr>
          <a:xfrm>
            <a:off x="6330820" y="2855167"/>
            <a:ext cx="2491273" cy="1970833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512766" y="3610895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735684" y="3017517"/>
            <a:ext cx="1681545" cy="447869"/>
            <a:chOff x="1147824" y="1306286"/>
            <a:chExt cx="1681545" cy="447869"/>
          </a:xfrm>
        </p:grpSpPr>
        <p:sp>
          <p:nvSpPr>
            <p:cNvPr id="43" name="矩形: 圆角 42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pic>
        <p:nvPicPr>
          <p:cNvPr id="9" name="图片占位符 8"/>
          <p:cNvPicPr>
            <a:picLocks noGrp="1" noChangeAspect="1"/>
          </p:cNvPicPr>
          <p:nvPr>
            <p:ph type="pic" sz="quarter" idx="20"/>
          </p:nvPr>
        </p:nvPicPr>
        <p:blipFill>
          <a:blip r:embed="rId1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/>
          <p:cNvSpPr/>
          <p:nvPr/>
        </p:nvSpPr>
        <p:spPr>
          <a:xfrm>
            <a:off x="228600" y="970545"/>
            <a:ext cx="4343400" cy="1707341"/>
          </a:xfrm>
          <a:prstGeom prst="roundRect">
            <a:avLst>
              <a:gd name="adj" fmla="val 4496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2535" y="1698311"/>
            <a:ext cx="3811555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2535" y="126152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28600" y="2883299"/>
            <a:ext cx="8621485" cy="551946"/>
            <a:chOff x="228600" y="2920621"/>
            <a:chExt cx="8621485" cy="551946"/>
          </a:xfrm>
        </p:grpSpPr>
        <p:sp>
          <p:nvSpPr>
            <p:cNvPr id="26" name="矩形: 圆角 25"/>
            <p:cNvSpPr/>
            <p:nvPr/>
          </p:nvSpPr>
          <p:spPr>
            <a:xfrm>
              <a:off x="228600" y="2982071"/>
              <a:ext cx="1506894" cy="4290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+mj-ea"/>
                  <a:ea typeface="+mj-ea"/>
                </a:rPr>
                <a:t>企业文化</a:t>
              </a:r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870787" y="2920621"/>
              <a:ext cx="6979298" cy="551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单击此处输入你的正文，文字是您思想的提炼，为了最终演示发布的良好效果，请尽量言简意赅的阐述观点；根据需要可酌情增减文字，以便观者可以准确理解您所传达的信息。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28600" y="3604077"/>
            <a:ext cx="8621485" cy="551946"/>
            <a:chOff x="228600" y="2920621"/>
            <a:chExt cx="8621485" cy="551946"/>
          </a:xfrm>
        </p:grpSpPr>
        <p:sp>
          <p:nvSpPr>
            <p:cNvPr id="35" name="矩形: 圆角 34"/>
            <p:cNvSpPr/>
            <p:nvPr/>
          </p:nvSpPr>
          <p:spPr>
            <a:xfrm>
              <a:off x="228600" y="2982071"/>
              <a:ext cx="1506894" cy="4290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+mj-ea"/>
                  <a:ea typeface="+mj-ea"/>
                </a:rPr>
                <a:t>企业文化</a:t>
              </a:r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870787" y="2920621"/>
              <a:ext cx="6979298" cy="551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单击此处输入你的正文，文字是您思想的提炼，为了最终演示发布的良好效果，请尽量言简意赅的阐述观点；根据需要可酌情增减文字，以便观者可以准确理解您所传达的信息。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28600" y="4324854"/>
            <a:ext cx="8621485" cy="551946"/>
            <a:chOff x="228600" y="2920621"/>
            <a:chExt cx="8621485" cy="551946"/>
          </a:xfrm>
        </p:grpSpPr>
        <p:sp>
          <p:nvSpPr>
            <p:cNvPr id="38" name="矩形: 圆角 37"/>
            <p:cNvSpPr/>
            <p:nvPr/>
          </p:nvSpPr>
          <p:spPr>
            <a:xfrm>
              <a:off x="228600" y="2982071"/>
              <a:ext cx="1506894" cy="4290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+mj-ea"/>
                  <a:ea typeface="+mj-ea"/>
                </a:rPr>
                <a:t>企业文化</a:t>
              </a:r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870787" y="2920621"/>
              <a:ext cx="6979298" cy="551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单击此处输入你的正文，文字是您思想的提炼，为了最终演示发布的良好效果，请尽量言简意赅的阐述观点；根据需要可酌情增减文字，以便观者可以准确理解您所传达的信息。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758612" y="970547"/>
            <a:ext cx="4156788" cy="1744662"/>
          </a:xfrm>
          <a:custGeom>
            <a:avLst/>
            <a:gdLst>
              <a:gd name="connsiteX0" fmla="*/ 140376 w 4156788"/>
              <a:gd name="connsiteY0" fmla="*/ 0 h 1744662"/>
              <a:gd name="connsiteX1" fmla="*/ 4016412 w 4156788"/>
              <a:gd name="connsiteY1" fmla="*/ 0 h 1744662"/>
              <a:gd name="connsiteX2" fmla="*/ 4156788 w 4156788"/>
              <a:gd name="connsiteY2" fmla="*/ 140376 h 1744662"/>
              <a:gd name="connsiteX3" fmla="*/ 4156788 w 4156788"/>
              <a:gd name="connsiteY3" fmla="*/ 1604286 h 1744662"/>
              <a:gd name="connsiteX4" fmla="*/ 4016412 w 4156788"/>
              <a:gd name="connsiteY4" fmla="*/ 1744662 h 1744662"/>
              <a:gd name="connsiteX5" fmla="*/ 140376 w 4156788"/>
              <a:gd name="connsiteY5" fmla="*/ 1744662 h 1744662"/>
              <a:gd name="connsiteX6" fmla="*/ 0 w 4156788"/>
              <a:gd name="connsiteY6" fmla="*/ 1604286 h 1744662"/>
              <a:gd name="connsiteX7" fmla="*/ 0 w 4156788"/>
              <a:gd name="connsiteY7" fmla="*/ 140376 h 1744662"/>
              <a:gd name="connsiteX8" fmla="*/ 140376 w 4156788"/>
              <a:gd name="connsiteY8" fmla="*/ 0 h 1744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56788" h="1744662">
                <a:moveTo>
                  <a:pt x="140376" y="0"/>
                </a:moveTo>
                <a:lnTo>
                  <a:pt x="4016412" y="0"/>
                </a:lnTo>
                <a:cubicBezTo>
                  <a:pt x="4093940" y="0"/>
                  <a:pt x="4156788" y="62848"/>
                  <a:pt x="4156788" y="140376"/>
                </a:cubicBezTo>
                <a:lnTo>
                  <a:pt x="4156788" y="1604286"/>
                </a:lnTo>
                <a:cubicBezTo>
                  <a:pt x="4156788" y="1681814"/>
                  <a:pt x="4093940" y="1744662"/>
                  <a:pt x="4016412" y="1744662"/>
                </a:cubicBezTo>
                <a:lnTo>
                  <a:pt x="140376" y="1744662"/>
                </a:lnTo>
                <a:cubicBezTo>
                  <a:pt x="62848" y="1744662"/>
                  <a:pt x="0" y="1681814"/>
                  <a:pt x="0" y="1604286"/>
                </a:cubicBezTo>
                <a:lnTo>
                  <a:pt x="0" y="140376"/>
                </a:lnTo>
                <a:cubicBezTo>
                  <a:pt x="0" y="62848"/>
                  <a:pt x="62848" y="0"/>
                  <a:pt x="140376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-1" y="0"/>
            <a:ext cx="4267197" cy="5143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YOUR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LOGO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7325360" y="0"/>
            <a:ext cx="1818639" cy="169072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52760" y="2079820"/>
            <a:ext cx="40780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关于团队合作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752759" y="1450466"/>
            <a:ext cx="472876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i="1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latin typeface="+mj-ea"/>
                <a:ea typeface="+mj-ea"/>
                <a:sym typeface="思源黑体 CN Normal" panose="020B0400000000000000" charset="-122"/>
              </a:rPr>
              <a:t>PART THREE</a:t>
            </a:r>
            <a:endParaRPr lang="zh-CN" altLang="en-US" sz="3600" i="1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5012" y="3047189"/>
            <a:ext cx="4785859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919583" y="2949304"/>
            <a:ext cx="4486366" cy="0"/>
          </a:xfrm>
          <a:prstGeom prst="line">
            <a:avLst/>
          </a:prstGeom>
          <a:ln>
            <a:solidFill>
              <a:srgbClr val="716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 rot="10800000">
            <a:off x="0" y="3558988"/>
            <a:ext cx="1704393" cy="158451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87123" y="4826000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金山办公软件有限公司</a:t>
            </a:r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7541" y="4107359"/>
            <a:ext cx="85201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r"/>
            <a:r>
              <a:rPr lang="en-US" altLang="zh-CN" sz="40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0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0" y="1023938"/>
            <a:ext cx="9144000" cy="196130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023938"/>
            <a:ext cx="9144000" cy="1962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TEAM WORK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2002" y="1962078"/>
            <a:ext cx="8683398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08516" y="1429904"/>
            <a:ext cx="332696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28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企业团队合作</a:t>
            </a:r>
            <a:endParaRPr lang="zh-CN" altLang="en-US" sz="28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0526" y="3855686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12775" y="3299630"/>
            <a:ext cx="1681545" cy="447869"/>
            <a:chOff x="1147824" y="1306286"/>
            <a:chExt cx="1681545" cy="447869"/>
          </a:xfrm>
        </p:grpSpPr>
        <p:sp>
          <p:nvSpPr>
            <p:cNvPr id="12" name="矩形: 圆角 11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08309" y="3855686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731227" y="3299630"/>
            <a:ext cx="1681545" cy="447869"/>
            <a:chOff x="1147824" y="1306286"/>
            <a:chExt cx="1681545" cy="447869"/>
          </a:xfrm>
        </p:grpSpPr>
        <p:sp>
          <p:nvSpPr>
            <p:cNvPr id="16" name="矩形: 圆角 15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484774" y="3855686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717023" y="3299630"/>
            <a:ext cx="1681545" cy="447869"/>
            <a:chOff x="1147824" y="1306286"/>
            <a:chExt cx="1681545" cy="447869"/>
          </a:xfrm>
        </p:grpSpPr>
        <p:sp>
          <p:nvSpPr>
            <p:cNvPr id="20" name="矩形: 圆角 19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TEAM WORK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21494" y="958650"/>
            <a:ext cx="2701766" cy="946145"/>
          </a:xfrm>
          <a:prstGeom prst="roundRect">
            <a:avLst>
              <a:gd name="adj" fmla="val 13728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521494" y="1999552"/>
            <a:ext cx="2701766" cy="2794102"/>
          </a:xfrm>
          <a:prstGeom prst="roundRect">
            <a:avLst>
              <a:gd name="adj" fmla="val 5160"/>
            </a:avLst>
          </a:pr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3319042" y="3821315"/>
            <a:ext cx="5301947" cy="972339"/>
          </a:xfrm>
          <a:prstGeom prst="roundRect">
            <a:avLst>
              <a:gd name="adj" fmla="val 14316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9832" y="2443407"/>
            <a:ext cx="186081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9832" y="2978472"/>
            <a:ext cx="2186162" cy="1521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60118" y="3941281"/>
            <a:ext cx="186081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39577" y="4293466"/>
            <a:ext cx="5475823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>
                <a:cs typeface="思源黑体 CN Normal" panose="020B0400000000000000" charset="-122"/>
              </a:rPr>
              <a:t>单击此处输入你的正文，文字是您思想的提炼，为了最终演示发布的良好效果</a:t>
            </a:r>
            <a:endParaRPr lang="zh-CN" altLang="en-US" sz="1200">
              <a:cs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9832" y="1094885"/>
            <a:ext cx="186081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9832" y="1455738"/>
            <a:ext cx="2432476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>
                <a:cs typeface="思源黑体 CN Normal" panose="020B0400000000000000" charset="-122"/>
              </a:rPr>
              <a:t>单击此处输入你的正文</a:t>
            </a:r>
            <a:endParaRPr lang="zh-CN" altLang="en-US" sz="1200">
              <a:cs typeface="思源黑体 CN Normal" panose="020B0400000000000000" charset="-122"/>
            </a:endParaRPr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22"/>
          </p:nvPr>
        </p:nvPicPr>
        <p:blipFill>
          <a:blip r:embed="rId1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/>
          <a:srcRect r="-1"/>
          <a:stretch>
            <a:fillRect/>
          </a:stretch>
        </p:blipFill>
        <p:spPr>
          <a:xfrm>
            <a:off x="6353735" y="0"/>
            <a:ext cx="2790264" cy="51435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TEAM WORK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228600" y="2482979"/>
            <a:ext cx="2276669" cy="2393821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1221441" y="2369275"/>
            <a:ext cx="290987" cy="290987"/>
            <a:chOff x="1380931" y="2313992"/>
            <a:chExt cx="438538" cy="438538"/>
          </a:xfrm>
        </p:grpSpPr>
        <p:sp>
          <p:nvSpPr>
            <p:cNvPr id="3" name="椭圆 2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391833" y="3267247"/>
            <a:ext cx="1950203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26162" y="2905132"/>
            <a:ext cx="168154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1198983" y="4566816"/>
            <a:ext cx="335903" cy="0"/>
          </a:xfrm>
          <a:prstGeom prst="line">
            <a:avLst/>
          </a:prstGeom>
          <a:ln w="38100">
            <a:solidFill>
              <a:srgbClr val="EC5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/>
          <p:cNvSpPr/>
          <p:nvPr/>
        </p:nvSpPr>
        <p:spPr>
          <a:xfrm>
            <a:off x="2715208" y="2482979"/>
            <a:ext cx="2276669" cy="2393821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3708049" y="2369275"/>
            <a:ext cx="290987" cy="290987"/>
            <a:chOff x="1380931" y="2313992"/>
            <a:chExt cx="438538" cy="438538"/>
          </a:xfrm>
        </p:grpSpPr>
        <p:sp>
          <p:nvSpPr>
            <p:cNvPr id="39" name="椭圆 38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878441" y="3267247"/>
            <a:ext cx="1950203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12770" y="2905132"/>
            <a:ext cx="168154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685591" y="4566816"/>
            <a:ext cx="335903" cy="0"/>
          </a:xfrm>
          <a:prstGeom prst="line">
            <a:avLst/>
          </a:prstGeom>
          <a:ln w="38100">
            <a:solidFill>
              <a:srgbClr val="EC5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/>
          <p:cNvSpPr/>
          <p:nvPr/>
        </p:nvSpPr>
        <p:spPr>
          <a:xfrm>
            <a:off x="5201816" y="2482979"/>
            <a:ext cx="2276669" cy="2393821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6194657" y="2369275"/>
            <a:ext cx="290987" cy="290987"/>
            <a:chOff x="1380931" y="2313992"/>
            <a:chExt cx="438538" cy="438538"/>
          </a:xfrm>
        </p:grpSpPr>
        <p:sp>
          <p:nvSpPr>
            <p:cNvPr id="47" name="椭圆 46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5365049" y="3267247"/>
            <a:ext cx="1950203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499378" y="2905132"/>
            <a:ext cx="168154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6172199" y="4566816"/>
            <a:ext cx="335903" cy="0"/>
          </a:xfrm>
          <a:prstGeom prst="line">
            <a:avLst/>
          </a:prstGeom>
          <a:ln w="38100">
            <a:solidFill>
              <a:srgbClr val="EC5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28600" y="1455738"/>
            <a:ext cx="5864290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28600" y="1018956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-1" y="0"/>
            <a:ext cx="4267197" cy="5143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YOUR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LOGO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7325360" y="0"/>
            <a:ext cx="1818639" cy="169072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52760" y="2079820"/>
            <a:ext cx="40780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规划与未来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752759" y="1450466"/>
            <a:ext cx="472876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i="1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latin typeface="+mj-ea"/>
                <a:ea typeface="+mj-ea"/>
                <a:sym typeface="思源黑体 CN Normal" panose="020B0400000000000000" charset="-122"/>
              </a:rPr>
              <a:t>PART FOUR</a:t>
            </a:r>
            <a:endParaRPr lang="zh-CN" altLang="en-US" sz="3600" i="1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5012" y="3047189"/>
            <a:ext cx="4785859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919583" y="2949304"/>
            <a:ext cx="4486366" cy="0"/>
          </a:xfrm>
          <a:prstGeom prst="line">
            <a:avLst/>
          </a:prstGeom>
          <a:ln>
            <a:solidFill>
              <a:srgbClr val="716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 rot="10800000">
            <a:off x="0" y="3558988"/>
            <a:ext cx="1704393" cy="158451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87123" y="4826000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金山办公软件有限公司</a:t>
            </a:r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7541" y="4107359"/>
            <a:ext cx="85201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r"/>
            <a:r>
              <a:rPr lang="en-US" altLang="zh-CN" sz="40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0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规划与未来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PLANNING AND THE FUTURE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28600" y="3004575"/>
            <a:ext cx="2304858" cy="1472780"/>
            <a:chOff x="228600" y="2733869"/>
            <a:chExt cx="2686137" cy="1716413"/>
          </a:xfrm>
        </p:grpSpPr>
        <p:sp>
          <p:nvSpPr>
            <p:cNvPr id="9" name="任意多边形: 形状 8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51968" y="3396741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30896" y="303576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2" name="任意多边形: 形状 11"/>
          <p:cNvSpPr/>
          <p:nvPr/>
        </p:nvSpPr>
        <p:spPr>
          <a:xfrm>
            <a:off x="0" y="2536804"/>
            <a:ext cx="9143999" cy="588032"/>
          </a:xfrm>
          <a:custGeom>
            <a:avLst/>
            <a:gdLst>
              <a:gd name="connsiteX0" fmla="*/ 0 w 4907902"/>
              <a:gd name="connsiteY0" fmla="*/ 374412 h 449057"/>
              <a:gd name="connsiteX1" fmla="*/ 1147665 w 4907902"/>
              <a:gd name="connsiteY1" fmla="*/ 19849 h 449057"/>
              <a:gd name="connsiteX2" fmla="*/ 2360644 w 4907902"/>
              <a:gd name="connsiteY2" fmla="*/ 309098 h 449057"/>
              <a:gd name="connsiteX3" fmla="*/ 3368351 w 4907902"/>
              <a:gd name="connsiteY3" fmla="*/ 1187 h 449057"/>
              <a:gd name="connsiteX4" fmla="*/ 4245428 w 4907902"/>
              <a:gd name="connsiteY4" fmla="*/ 449057 h 449057"/>
              <a:gd name="connsiteX5" fmla="*/ 4907902 w 4907902"/>
              <a:gd name="connsiteY5" fmla="*/ 1187 h 449057"/>
              <a:gd name="connsiteX0-1" fmla="*/ 0 w 4907902"/>
              <a:gd name="connsiteY0-2" fmla="*/ 401471 h 476116"/>
              <a:gd name="connsiteX1-3" fmla="*/ 1132970 w 4907902"/>
              <a:gd name="connsiteY1-4" fmla="*/ 254 h 476116"/>
              <a:gd name="connsiteX2-5" fmla="*/ 2360644 w 4907902"/>
              <a:gd name="connsiteY2-6" fmla="*/ 336157 h 476116"/>
              <a:gd name="connsiteX3-7" fmla="*/ 3368351 w 4907902"/>
              <a:gd name="connsiteY3-8" fmla="*/ 28246 h 476116"/>
              <a:gd name="connsiteX4-9" fmla="*/ 4245428 w 4907902"/>
              <a:gd name="connsiteY4-10" fmla="*/ 476116 h 476116"/>
              <a:gd name="connsiteX5-11" fmla="*/ 4907902 w 4907902"/>
              <a:gd name="connsiteY5-12" fmla="*/ 28246 h 476116"/>
              <a:gd name="connsiteX0-13" fmla="*/ 0 w 4907902"/>
              <a:gd name="connsiteY0-14" fmla="*/ 402061 h 476706"/>
              <a:gd name="connsiteX1-15" fmla="*/ 1132970 w 4907902"/>
              <a:gd name="connsiteY1-16" fmla="*/ 844 h 476706"/>
              <a:gd name="connsiteX2-17" fmla="*/ 2360644 w 4907902"/>
              <a:gd name="connsiteY2-18" fmla="*/ 336747 h 476706"/>
              <a:gd name="connsiteX3-19" fmla="*/ 3368351 w 4907902"/>
              <a:gd name="connsiteY3-20" fmla="*/ 28836 h 476706"/>
              <a:gd name="connsiteX4-21" fmla="*/ 4245428 w 4907902"/>
              <a:gd name="connsiteY4-22" fmla="*/ 476706 h 476706"/>
              <a:gd name="connsiteX5-23" fmla="*/ 4907902 w 4907902"/>
              <a:gd name="connsiteY5-24" fmla="*/ 28836 h 476706"/>
              <a:gd name="connsiteX0-25" fmla="*/ 0 w 4907902"/>
              <a:gd name="connsiteY0-26" fmla="*/ 401472 h 476117"/>
              <a:gd name="connsiteX1-27" fmla="*/ 1132970 w 4907902"/>
              <a:gd name="connsiteY1-28" fmla="*/ 255 h 476117"/>
              <a:gd name="connsiteX2-29" fmla="*/ 2360644 w 4907902"/>
              <a:gd name="connsiteY2-30" fmla="*/ 336158 h 476117"/>
              <a:gd name="connsiteX3-31" fmla="*/ 3368351 w 4907902"/>
              <a:gd name="connsiteY3-32" fmla="*/ 28247 h 476117"/>
              <a:gd name="connsiteX4-33" fmla="*/ 4245428 w 4907902"/>
              <a:gd name="connsiteY4-34" fmla="*/ 476117 h 476117"/>
              <a:gd name="connsiteX5-35" fmla="*/ 4907902 w 4907902"/>
              <a:gd name="connsiteY5-36" fmla="*/ 28247 h 476117"/>
              <a:gd name="connsiteX0-37" fmla="*/ 0 w 4907902"/>
              <a:gd name="connsiteY0-38" fmla="*/ 402056 h 476701"/>
              <a:gd name="connsiteX1-39" fmla="*/ 426136 w 4907902"/>
              <a:gd name="connsiteY1-40" fmla="*/ 458039 h 476701"/>
              <a:gd name="connsiteX2-41" fmla="*/ 1132970 w 4907902"/>
              <a:gd name="connsiteY2-42" fmla="*/ 839 h 476701"/>
              <a:gd name="connsiteX3-43" fmla="*/ 2360644 w 4907902"/>
              <a:gd name="connsiteY3-44" fmla="*/ 336742 h 476701"/>
              <a:gd name="connsiteX4-45" fmla="*/ 3368351 w 4907902"/>
              <a:gd name="connsiteY4-46" fmla="*/ 28831 h 476701"/>
              <a:gd name="connsiteX5-47" fmla="*/ 4245428 w 4907902"/>
              <a:gd name="connsiteY5-48" fmla="*/ 476701 h 476701"/>
              <a:gd name="connsiteX6" fmla="*/ 4907902 w 4907902"/>
              <a:gd name="connsiteY6" fmla="*/ 28831 h 476701"/>
              <a:gd name="connsiteX0-49" fmla="*/ 0 w 4907902"/>
              <a:gd name="connsiteY0-50" fmla="*/ 401222 h 475867"/>
              <a:gd name="connsiteX1-51" fmla="*/ 426136 w 4907902"/>
              <a:gd name="connsiteY1-52" fmla="*/ 457205 h 475867"/>
              <a:gd name="connsiteX2-53" fmla="*/ 1132970 w 4907902"/>
              <a:gd name="connsiteY2-54" fmla="*/ 5 h 475867"/>
              <a:gd name="connsiteX3-55" fmla="*/ 2355746 w 4907902"/>
              <a:gd name="connsiteY3-56" fmla="*/ 466537 h 475867"/>
              <a:gd name="connsiteX4-57" fmla="*/ 3368351 w 4907902"/>
              <a:gd name="connsiteY4-58" fmla="*/ 27997 h 475867"/>
              <a:gd name="connsiteX5-59" fmla="*/ 4245428 w 4907902"/>
              <a:gd name="connsiteY5-60" fmla="*/ 475867 h 475867"/>
              <a:gd name="connsiteX6-61" fmla="*/ 4907902 w 4907902"/>
              <a:gd name="connsiteY6-62" fmla="*/ 27997 h 475867"/>
              <a:gd name="connsiteX0-63" fmla="*/ 0 w 4907902"/>
              <a:gd name="connsiteY0-64" fmla="*/ 429213 h 503858"/>
              <a:gd name="connsiteX1-65" fmla="*/ 426136 w 4907902"/>
              <a:gd name="connsiteY1-66" fmla="*/ 485196 h 503858"/>
              <a:gd name="connsiteX2-67" fmla="*/ 1132970 w 4907902"/>
              <a:gd name="connsiteY2-68" fmla="*/ 4 h 503858"/>
              <a:gd name="connsiteX3-69" fmla="*/ 2355746 w 4907902"/>
              <a:gd name="connsiteY3-70" fmla="*/ 494528 h 503858"/>
              <a:gd name="connsiteX4-71" fmla="*/ 3368351 w 4907902"/>
              <a:gd name="connsiteY4-72" fmla="*/ 55988 h 503858"/>
              <a:gd name="connsiteX5-73" fmla="*/ 4245428 w 4907902"/>
              <a:gd name="connsiteY5-74" fmla="*/ 503858 h 503858"/>
              <a:gd name="connsiteX6-75" fmla="*/ 4907902 w 4907902"/>
              <a:gd name="connsiteY6-76" fmla="*/ 55988 h 503858"/>
              <a:gd name="connsiteX0-77" fmla="*/ 0 w 4907902"/>
              <a:gd name="connsiteY0-78" fmla="*/ 429412 h 504057"/>
              <a:gd name="connsiteX1-79" fmla="*/ 426136 w 4907902"/>
              <a:gd name="connsiteY1-80" fmla="*/ 485395 h 504057"/>
              <a:gd name="connsiteX2-81" fmla="*/ 1132970 w 4907902"/>
              <a:gd name="connsiteY2-82" fmla="*/ 203 h 504057"/>
              <a:gd name="connsiteX3-83" fmla="*/ 2355746 w 4907902"/>
              <a:gd name="connsiteY3-84" fmla="*/ 494727 h 504057"/>
              <a:gd name="connsiteX4-85" fmla="*/ 3368351 w 4907902"/>
              <a:gd name="connsiteY4-86" fmla="*/ 56187 h 504057"/>
              <a:gd name="connsiteX5-87" fmla="*/ 4245428 w 4907902"/>
              <a:gd name="connsiteY5-88" fmla="*/ 504057 h 504057"/>
              <a:gd name="connsiteX6-89" fmla="*/ 4907902 w 4907902"/>
              <a:gd name="connsiteY6-90" fmla="*/ 56187 h 504057"/>
              <a:gd name="connsiteX0-91" fmla="*/ 0 w 4907902"/>
              <a:gd name="connsiteY0-92" fmla="*/ 429412 h 588032"/>
              <a:gd name="connsiteX1-93" fmla="*/ 426136 w 4907902"/>
              <a:gd name="connsiteY1-94" fmla="*/ 485395 h 588032"/>
              <a:gd name="connsiteX2-95" fmla="*/ 1132970 w 4907902"/>
              <a:gd name="connsiteY2-96" fmla="*/ 203 h 588032"/>
              <a:gd name="connsiteX3-97" fmla="*/ 2355746 w 4907902"/>
              <a:gd name="connsiteY3-98" fmla="*/ 494727 h 588032"/>
              <a:gd name="connsiteX4-99" fmla="*/ 3368351 w 4907902"/>
              <a:gd name="connsiteY4-100" fmla="*/ 56187 h 588032"/>
              <a:gd name="connsiteX5-101" fmla="*/ 4255224 w 4907902"/>
              <a:gd name="connsiteY5-102" fmla="*/ 588032 h 588032"/>
              <a:gd name="connsiteX6-103" fmla="*/ 4907902 w 4907902"/>
              <a:gd name="connsiteY6-104" fmla="*/ 56187 h 5880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61" y="connsiteY6-62"/>
              </a:cxn>
            </a:cxnLst>
            <a:rect l="l" t="t" r="r" b="b"/>
            <a:pathLst>
              <a:path w="4907902" h="588032">
                <a:moveTo>
                  <a:pt x="0" y="429412"/>
                </a:moveTo>
                <a:cubicBezTo>
                  <a:pt x="54696" y="402975"/>
                  <a:pt x="237308" y="552264"/>
                  <a:pt x="426136" y="485395"/>
                </a:cubicBezTo>
                <a:cubicBezTo>
                  <a:pt x="614964" y="418526"/>
                  <a:pt x="781979" y="-10683"/>
                  <a:pt x="1132970" y="203"/>
                </a:cubicBezTo>
                <a:cubicBezTo>
                  <a:pt x="1483961" y="11089"/>
                  <a:pt x="1983183" y="485396"/>
                  <a:pt x="2355746" y="494727"/>
                </a:cubicBezTo>
                <a:cubicBezTo>
                  <a:pt x="2728309" y="504058"/>
                  <a:pt x="3051771" y="40636"/>
                  <a:pt x="3368351" y="56187"/>
                </a:cubicBezTo>
                <a:cubicBezTo>
                  <a:pt x="3684931" y="71738"/>
                  <a:pt x="3998632" y="588032"/>
                  <a:pt x="4255224" y="588032"/>
                </a:cubicBezTo>
                <a:cubicBezTo>
                  <a:pt x="4511816" y="588032"/>
                  <a:pt x="4704961" y="280122"/>
                  <a:pt x="4907902" y="56187"/>
                </a:cubicBezTo>
              </a:path>
            </a:pathLst>
          </a:custGeom>
          <a:noFill/>
          <a:ln w="19050">
            <a:solidFill>
              <a:srgbClr val="EC56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212110" y="2629614"/>
            <a:ext cx="290987" cy="290987"/>
            <a:chOff x="1380931" y="2313992"/>
            <a:chExt cx="438538" cy="438538"/>
          </a:xfrm>
        </p:grpSpPr>
        <p:sp>
          <p:nvSpPr>
            <p:cNvPr id="16" name="椭圆 15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423465" y="2769573"/>
            <a:ext cx="290987" cy="290987"/>
            <a:chOff x="1380931" y="2313992"/>
            <a:chExt cx="438538" cy="438538"/>
          </a:xfrm>
        </p:grpSpPr>
        <p:sp>
          <p:nvSpPr>
            <p:cNvPr id="20" name="椭圆 19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 flipH="1" flipV="1">
            <a:off x="2374642" y="1077284"/>
            <a:ext cx="2304858" cy="1472780"/>
            <a:chOff x="228600" y="2733869"/>
            <a:chExt cx="2686137" cy="1716413"/>
          </a:xfrm>
        </p:grpSpPr>
        <p:sp>
          <p:nvSpPr>
            <p:cNvPr id="24" name="任意多边形: 形状 23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 rot="10800000">
              <a:off x="433308" y="3010677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rot="10800000">
              <a:off x="712234" y="393963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128798" y="3181856"/>
            <a:ext cx="2304858" cy="1472780"/>
            <a:chOff x="228600" y="2733869"/>
            <a:chExt cx="2686137" cy="1716413"/>
          </a:xfrm>
        </p:grpSpPr>
        <p:sp>
          <p:nvSpPr>
            <p:cNvPr id="30" name="任意多边形: 形状 29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51968" y="3341890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730896" y="303576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158959" y="2694928"/>
            <a:ext cx="290987" cy="290987"/>
            <a:chOff x="1380931" y="2313992"/>
            <a:chExt cx="438538" cy="438538"/>
          </a:xfrm>
        </p:grpSpPr>
        <p:sp>
          <p:nvSpPr>
            <p:cNvPr id="41" name="椭圆 40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490230" y="2941671"/>
            <a:ext cx="290987" cy="290987"/>
            <a:chOff x="1380931" y="2313992"/>
            <a:chExt cx="438538" cy="438538"/>
          </a:xfrm>
        </p:grpSpPr>
        <p:sp>
          <p:nvSpPr>
            <p:cNvPr id="44" name="椭圆 43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 flipH="1" flipV="1">
            <a:off x="6497389" y="1250274"/>
            <a:ext cx="2304858" cy="1472780"/>
            <a:chOff x="228600" y="2733869"/>
            <a:chExt cx="2686137" cy="1716413"/>
          </a:xfrm>
        </p:grpSpPr>
        <p:sp>
          <p:nvSpPr>
            <p:cNvPr id="47" name="任意多边形: 形状 46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 rot="10800000">
              <a:off x="433308" y="3010677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 rot="10800000">
              <a:off x="712234" y="393963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/>
          <p:cNvSpPr/>
          <p:nvPr/>
        </p:nvSpPr>
        <p:spPr>
          <a:xfrm>
            <a:off x="0" y="4157472"/>
            <a:ext cx="9144000" cy="986028"/>
          </a:xfrm>
          <a:custGeom>
            <a:avLst/>
            <a:gdLst>
              <a:gd name="connsiteX0" fmla="*/ 365767 w 9144000"/>
              <a:gd name="connsiteY0" fmla="*/ 0 h 986028"/>
              <a:gd name="connsiteX1" fmla="*/ 8778233 w 9144000"/>
              <a:gd name="connsiteY1" fmla="*/ 0 h 986028"/>
              <a:gd name="connsiteX2" fmla="*/ 9144000 w 9144000"/>
              <a:gd name="connsiteY2" fmla="*/ 365767 h 986028"/>
              <a:gd name="connsiteX3" fmla="*/ 9144000 w 9144000"/>
              <a:gd name="connsiteY3" fmla="*/ 986028 h 986028"/>
              <a:gd name="connsiteX4" fmla="*/ 0 w 9144000"/>
              <a:gd name="connsiteY4" fmla="*/ 986028 h 986028"/>
              <a:gd name="connsiteX5" fmla="*/ 0 w 9144000"/>
              <a:gd name="connsiteY5" fmla="*/ 365767 h 986028"/>
              <a:gd name="connsiteX6" fmla="*/ 365767 w 9144000"/>
              <a:gd name="connsiteY6" fmla="*/ 0 h 98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986028">
                <a:moveTo>
                  <a:pt x="365767" y="0"/>
                </a:moveTo>
                <a:lnTo>
                  <a:pt x="8778233" y="0"/>
                </a:lnTo>
                <a:cubicBezTo>
                  <a:pt x="8980241" y="0"/>
                  <a:pt x="9144000" y="163759"/>
                  <a:pt x="9144000" y="365767"/>
                </a:cubicBezTo>
                <a:lnTo>
                  <a:pt x="9144000" y="986028"/>
                </a:lnTo>
                <a:lnTo>
                  <a:pt x="0" y="986028"/>
                </a:lnTo>
                <a:lnTo>
                  <a:pt x="0" y="365767"/>
                </a:lnTo>
                <a:cubicBezTo>
                  <a:pt x="0" y="163759"/>
                  <a:pt x="163759" y="0"/>
                  <a:pt x="365767" y="0"/>
                </a:cubicBezTo>
                <a:close/>
              </a:path>
            </a:pathLst>
          </a:cu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规划与未来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PLANNING AND THE FUTURE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28407" y="2849286"/>
            <a:ext cx="2718296" cy="1456140"/>
            <a:chOff x="328407" y="2849286"/>
            <a:chExt cx="2718296" cy="1456140"/>
          </a:xfrm>
        </p:grpSpPr>
        <p:sp>
          <p:nvSpPr>
            <p:cNvPr id="14" name="矩形: 圆角 13"/>
            <p:cNvSpPr/>
            <p:nvPr/>
          </p:nvSpPr>
          <p:spPr>
            <a:xfrm>
              <a:off x="335903" y="2865426"/>
              <a:ext cx="2710800" cy="1440000"/>
            </a:xfrm>
            <a:prstGeom prst="roundRect">
              <a:avLst>
                <a:gd name="adj" fmla="val 7619"/>
              </a:avLst>
            </a:pr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28407" y="2849286"/>
              <a:ext cx="9879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3600" i="1">
                  <a:ln w="3175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1"/>
                    </a:gradFill>
                  </a:ln>
                  <a:gradFill flip="none" rotWithShape="1">
                    <a:gsLst>
                      <a:gs pos="0">
                        <a:srgbClr val="D66650">
                          <a:alpha val="0"/>
                        </a:srgbClr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01</a:t>
              </a:r>
              <a:endParaRPr lang="zh-CN" altLang="en-US" sz="3600" i="1">
                <a:ln w="3175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rgbClr val="D66650">
                        <a:alpha val="0"/>
                      </a:srgbClr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631193" y="3420652"/>
              <a:ext cx="2246918" cy="79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31192" y="3125917"/>
              <a:ext cx="15133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05938" y="2849286"/>
            <a:ext cx="2718296" cy="1456140"/>
            <a:chOff x="328407" y="2849286"/>
            <a:chExt cx="2718296" cy="1456140"/>
          </a:xfrm>
        </p:grpSpPr>
        <p:sp>
          <p:nvSpPr>
            <p:cNvPr id="15" name="矩形: 圆角 14"/>
            <p:cNvSpPr/>
            <p:nvPr/>
          </p:nvSpPr>
          <p:spPr>
            <a:xfrm>
              <a:off x="335903" y="2865426"/>
              <a:ext cx="2710800" cy="1440000"/>
            </a:xfrm>
            <a:prstGeom prst="roundRect">
              <a:avLst>
                <a:gd name="adj" fmla="val 7619"/>
              </a:avLst>
            </a:pr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28407" y="2849286"/>
              <a:ext cx="9879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3600" i="1">
                  <a:ln w="3175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1"/>
                    </a:gradFill>
                  </a:ln>
                  <a:gradFill flip="none" rotWithShape="1">
                    <a:gsLst>
                      <a:gs pos="0">
                        <a:srgbClr val="D66650">
                          <a:alpha val="0"/>
                        </a:srgbClr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02</a:t>
              </a:r>
              <a:endParaRPr lang="zh-CN" altLang="en-US" sz="3600" i="1">
                <a:ln w="3175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rgbClr val="D66650">
                        <a:alpha val="0"/>
                      </a:srgbClr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1193" y="3420652"/>
              <a:ext cx="2246918" cy="79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31192" y="3125917"/>
              <a:ext cx="15133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083469" y="2849286"/>
            <a:ext cx="2718296" cy="1456140"/>
            <a:chOff x="328407" y="2849286"/>
            <a:chExt cx="2718296" cy="1456140"/>
          </a:xfrm>
        </p:grpSpPr>
        <p:sp>
          <p:nvSpPr>
            <p:cNvPr id="20" name="矩形: 圆角 19"/>
            <p:cNvSpPr/>
            <p:nvPr/>
          </p:nvSpPr>
          <p:spPr>
            <a:xfrm>
              <a:off x="335903" y="2865426"/>
              <a:ext cx="2710800" cy="1440000"/>
            </a:xfrm>
            <a:prstGeom prst="roundRect">
              <a:avLst>
                <a:gd name="adj" fmla="val 7619"/>
              </a:avLst>
            </a:pr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328407" y="2849286"/>
              <a:ext cx="9879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3600" i="1">
                  <a:ln w="3175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1"/>
                    </a:gradFill>
                  </a:ln>
                  <a:gradFill flip="none" rotWithShape="1">
                    <a:gsLst>
                      <a:gs pos="0">
                        <a:srgbClr val="D66650">
                          <a:alpha val="0"/>
                        </a:srgbClr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03</a:t>
              </a:r>
              <a:endParaRPr lang="zh-CN" altLang="en-US" sz="3600" i="1">
                <a:ln w="3175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rgbClr val="D66650">
                        <a:alpha val="0"/>
                      </a:srgbClr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1193" y="3420652"/>
              <a:ext cx="2246918" cy="79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31192" y="3125917"/>
              <a:ext cx="15133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87155" y="4595168"/>
            <a:ext cx="83745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pPr algn="dist"/>
            <a:r>
              <a:rPr lang="en-US" altLang="zh-CN" sz="900">
                <a:latin typeface="+mn-ea"/>
                <a:ea typeface="+mn-ea"/>
                <a:cs typeface="思源黑体 CN Normal" panose="020B0400000000000000" charset="-122"/>
              </a:rPr>
              <a:t>PLANNING AND THE FUTURE</a:t>
            </a:r>
            <a:endParaRPr lang="en-US" altLang="zh-CN" sz="900">
              <a:latin typeface="+mn-ea"/>
              <a:ea typeface="+mn-ea"/>
              <a:cs typeface="思源黑体 CN Normal" panose="020B0400000000000000" charset="-122"/>
            </a:endParaRPr>
          </a:p>
        </p:txBody>
      </p:sp>
      <p:pic>
        <p:nvPicPr>
          <p:cNvPr id="34" name="图片占位符 33"/>
          <p:cNvPicPr>
            <a:picLocks noGrp="1" noChangeAspect="1"/>
          </p:cNvPicPr>
          <p:nvPr>
            <p:ph type="pic" sz="quarter" idx="20"/>
          </p:nvPr>
        </p:nvPicPr>
        <p:blipFill>
          <a:blip r:embed="rId1" cstate="print"/>
          <a:srcRect/>
          <a:stretch>
            <a:fillRect/>
          </a:stretch>
        </p:blipFill>
        <p:spPr/>
      </p:pic>
      <p:pic>
        <p:nvPicPr>
          <p:cNvPr id="38" name="图片占位符 37"/>
          <p:cNvPicPr>
            <a:picLocks noGrp="1" noChangeAspect="1"/>
          </p:cNvPicPr>
          <p:nvPr>
            <p:ph type="pic" sz="quarter" idx="21"/>
          </p:nvPr>
        </p:nvPicPr>
        <p:blipFill>
          <a:blip r:embed="rId2" cstate="print"/>
          <a:srcRect/>
          <a:stretch>
            <a:fillRect/>
          </a:stretch>
        </p:blipFill>
        <p:spPr/>
      </p:pic>
      <p:pic>
        <p:nvPicPr>
          <p:cNvPr id="43" name="图片占位符 42"/>
          <p:cNvPicPr>
            <a:picLocks noGrp="1" noChangeAspect="1"/>
          </p:cNvPicPr>
          <p:nvPr>
            <p:ph type="pic" sz="quarter" idx="22"/>
          </p:nvPr>
        </p:nvPicPr>
        <p:blipFill>
          <a:blip r:embed="rId3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87351" y="4565879"/>
            <a:ext cx="8520112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uLnTx/>
                <a:uFillTx/>
                <a:latin typeface="思源黑体 CN Heavy" panose="020B0A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ENTERPRISE TRAINING</a:t>
            </a:r>
            <a:endParaRPr kumimoji="0" lang="en-US" altLang="zh-CN" sz="4400" b="0" i="0" u="none" strike="noStrike" kern="1200" cap="none" spc="0" normalizeH="0" baseline="0" noProof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uLnTx/>
              <a:uFillTx/>
              <a:latin typeface="思源黑体 CN Heavy" panose="020B0A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5893904" y="0"/>
            <a:ext cx="3250096" cy="3021496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 w="38100">
                  <a:noFill/>
                </a:ln>
                <a:solidFill>
                  <a:srgbClr val="C53811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YOUR</a:t>
            </a:r>
            <a:endParaRPr kumimoji="0" lang="en-US" altLang="zh-CN" sz="1200" b="0" i="0" u="none" strike="noStrike" kern="1200" cap="none" spc="0" normalizeH="0" baseline="0" noProof="0">
              <a:ln w="38100">
                <a:noFill/>
              </a:ln>
              <a:solidFill>
                <a:srgbClr val="C53811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 w="38100">
                  <a:noFill/>
                </a:ln>
                <a:solidFill>
                  <a:srgbClr val="C53811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LOGO</a:t>
            </a:r>
            <a:endParaRPr kumimoji="0" lang="en-US" altLang="zh-CN" sz="1200" b="0" i="0" u="none" strike="noStrike" kern="1200" cap="none" spc="0" normalizeH="0" baseline="0" noProof="0">
              <a:ln w="38100">
                <a:noFill/>
              </a:ln>
              <a:solidFill>
                <a:srgbClr val="C53811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42526" y="1822539"/>
            <a:ext cx="468991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感谢大家的观看</a:t>
            </a:r>
            <a:endParaRPr kumimoji="0" lang="zh-CN" altLang="en-US" sz="4000" b="0" i="0" u="none" strike="noStrike" kern="1200" cap="none" spc="0" normalizeH="0" baseline="0" noProof="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15032" y="2576577"/>
            <a:ext cx="4818615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5288" y="4276023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金山办公软件有限公司</a:t>
            </a:r>
            <a:endParaRPr kumimoji="0" lang="en-US" altLang="zh-CN" sz="1400" b="0" i="0" u="none" strike="noStrike" kern="1200" cap="none" spc="0" normalizeH="0" baseline="0" noProof="0">
              <a:ln w="3810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50914" y="1356771"/>
            <a:ext cx="625919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 w="3810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——</a:t>
            </a:r>
            <a:r>
              <a:rPr kumimoji="0" lang="zh-CN" altLang="en-US" sz="2000" b="0" i="0" u="none" strike="noStrike" kern="1200" cap="none" spc="0" normalizeH="0" baseline="0" noProof="0">
                <a:ln w="3810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商务风通用企业培训</a:t>
            </a:r>
            <a:endParaRPr kumimoji="0" lang="zh-CN" altLang="en-US" sz="2000" b="0" i="0" u="none" strike="noStrike" kern="1200" cap="none" spc="0" normalizeH="0" baseline="0" noProof="0">
              <a:ln w="3810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479178" y="3443237"/>
            <a:ext cx="1349987" cy="28904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人力资源部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638800" y="0"/>
            <a:ext cx="35051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稻壳品牌介绍页-b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923" y="0"/>
            <a:ext cx="9171146" cy="51587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24000" y="720566"/>
            <a:ext cx="2963228" cy="52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3400"/>
              </a:lnSpc>
            </a:pPr>
            <a:r>
              <a:rPr lang="zh-CN" altLang="en-US" sz="195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一站式办公内容服务平台</a:t>
            </a:r>
            <a:endParaRPr lang="zh-CN" altLang="en-US" sz="1950" b="1">
              <a:solidFill>
                <a:srgbClr val="2222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图片 8" descr="稻壳新logo-标准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16" y="737711"/>
            <a:ext cx="1232059" cy="378143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3029426" y="1471136"/>
            <a:ext cx="5928836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ts val="2000"/>
              </a:lnSpc>
            </a:pPr>
            <a:r>
              <a:rPr lang="zh-CN" altLang="en-US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大模板库</a:t>
            </a:r>
            <a:r>
              <a:rPr lang="en-US" altLang="zh-CN" sz="1500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|</a:t>
            </a:r>
            <a:r>
              <a:rPr lang="en-US" altLang="zh-CN" sz="1650" b="1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10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大素材库</a:t>
            </a:r>
            <a:r>
              <a:rPr lang="en-US" altLang="zh-CN" sz="1500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| </a:t>
            </a:r>
            <a:r>
              <a:rPr lang="zh-CN" altLang="en-US" sz="15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千万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文库资源</a:t>
            </a:r>
            <a:r>
              <a:rPr lang="en-US" altLang="zh-CN" sz="1500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en-US" altLang="zh-CN" sz="1500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| </a:t>
            </a:r>
            <a:r>
              <a:rPr lang="zh-CN" altLang="en-US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60</a:t>
            </a:r>
            <a:r>
              <a:rPr lang="en-US" altLang="zh-CN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+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项AI应用服务</a:t>
            </a:r>
            <a:endParaRPr lang="zh-CN" altLang="en-US" sz="1500" b="1">
              <a:solidFill>
                <a:srgbClr val="2222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06090" y="2416969"/>
            <a:ext cx="5484495" cy="347186"/>
            <a:chOff x="6351" y="5593"/>
            <a:chExt cx="11516" cy="729"/>
          </a:xfrm>
        </p:grpSpPr>
        <p:sp>
          <p:nvSpPr>
            <p:cNvPr id="7" name="文本框 6"/>
            <p:cNvSpPr txBox="1"/>
            <p:nvPr/>
          </p:nvSpPr>
          <p:spPr>
            <a:xfrm>
              <a:off x="9875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图标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1066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图片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200" y="5593"/>
              <a:ext cx="1027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文库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3447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简历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51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522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图表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713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字体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581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备课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5743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组卷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6933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海报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19" name="图片 18" descr="PPT模板-品牌介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00" y="3517106"/>
            <a:ext cx="864000" cy="8640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3007995" y="3206115"/>
            <a:ext cx="5739130" cy="164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【声明】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本数字作品由稻壳儿提供，稻壳儿尊重知识产权，并注重保护原创设计师及用户享有的各项权利。更多优质内容前往：https://www.docer.com/?from=pinpai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郑重提醒：您对数字作品的使用行为应当遵循《WPS稻壳儿平台服务使用协议》（https://www.wps.cn/privacy/clean_docer）、《稻壳商用授权许可协议》（</a:t>
            </a:r>
            <a:r>
              <a:rPr lang="en-US" altLang="zh-CN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https://clientweb.docer.wps.cn/activity/commercialdocer</a:t>
            </a: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en-US" altLang="zh-CN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protocol</a:t>
            </a: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en-US" altLang="zh-CN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202201/</a:t>
            </a: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）的相关约定，包括但不限于：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1、如您已购买稻壳个人商用特权，则您可在商用特权授权有效期内在《稻壳商用授权许可协议》中个人商用特权范围内使用数字作品，数字作品仅用于以自然人为主体从事的商业盈利行为。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2、如您代表您所在的组织已购买稻壳企业商用特权，则您所代表的组织可在商用特权授权有效期内在《稻壳商用授权许可协议》中企业商用特权范围内使用数字作品。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、如您未购买任何稻壳商用特权（特别提示：稻壳会员及超级会员权益中不包含稻壳商用特权），则数字作品本身（包括但不限于文字模板、表格模板、演示模板等）及其包含的全部素材（包括但不限于字体、图片、图标、文本框、艺术字等）均不支持商用，仅能为您个人学习、研究或欣赏目的使用。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4、您不可将数字作品中的全部或部分内容用于复制再出售，或以出租、出借、转让、分销、发布等其他任何直接、间接方式提供给他人使用。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5、您不可将数字作品接入网站、平台等，或以任意方式为他人提供数字作品下载。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6、数字作品中包含的内容仅供参考，稻壳儿不保证真实性、正确性、有效性、完整性和准确性，不代表稻壳儿的立场和观点，也不构成对您的任何建议。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30852" y="1731915"/>
            <a:ext cx="6109813" cy="260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fontAlgn="auto">
              <a:lnSpc>
                <a:spcPts val="2000"/>
              </a:lnSpc>
            </a:pPr>
            <a:r>
              <a:rPr lang="zh-CN" altLang="en-US" sz="900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资源全面、质量精美专业，提升工作学习质量与效率，打造极致高效的办公体验。稻壳儿，让办公更轻松。</a:t>
            </a:r>
            <a:endParaRPr lang="zh-CN" altLang="en-US" sz="900">
              <a:solidFill>
                <a:srgbClr val="2222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03421" y="4307681"/>
            <a:ext cx="1137285" cy="232410"/>
            <a:chOff x="1357" y="9045"/>
            <a:chExt cx="2388" cy="488"/>
          </a:xfrm>
        </p:grpSpPr>
        <p:sp>
          <p:nvSpPr>
            <p:cNvPr id="3" name="文本框 2"/>
            <p:cNvSpPr txBox="1"/>
            <p:nvPr/>
          </p:nvSpPr>
          <p:spPr>
            <a:xfrm>
              <a:off x="1357" y="9045"/>
              <a:ext cx="2388" cy="4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1100"/>
                </a:lnSpc>
              </a:pPr>
              <a:r>
                <a:rPr lang="zh-CN" altLang="en-US" sz="600" kern="1600" spc="20">
                  <a:solidFill>
                    <a:srgbClr val="222222">
                      <a:alpha val="60000"/>
                    </a:srgbClr>
                  </a:solidFill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扫码了解更多特权</a:t>
              </a:r>
              <a:endParaRPr lang="zh-CN" altLang="en-US" sz="600" kern="1600" spc="20">
                <a:solidFill>
                  <a:srgbClr val="222222">
                    <a:alpha val="6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5" name="图片 4" descr="扫码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71" y="9199"/>
              <a:ext cx="180" cy="180"/>
            </a:xfrm>
            <a:prstGeom prst="rect">
              <a:avLst/>
            </a:prstGeom>
          </p:spPr>
        </p:pic>
      </p:grpSp>
      <p:pic>
        <p:nvPicPr>
          <p:cNvPr id="25" name="图片 24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1339" y="2139791"/>
            <a:ext cx="5363051" cy="35290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jb3VudCI6NywiaGRpZCI6IjkzYjEzOTk3Nzc1MzEyNmNhZDkxMmE5YjM3ZmJiMTI1IiwidXNlckNvdW50IjoxfQ=="/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KSO_WPP_MARK_KEY" val="6a11ed2b-1b3f-46ae-8f64-9de74c59b88f"/>
</p:tagLst>
</file>

<file path=ppt/theme/theme1.xml><?xml version="1.0" encoding="utf-8"?>
<a:theme xmlns:a="http://schemas.openxmlformats.org/drawingml/2006/main" name="1_Office 主题">
  <a:themeElements>
    <a:clrScheme name="自定义 1058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C53811"/>
      </a:accent1>
      <a:accent2>
        <a:srgbClr val="F4804D"/>
      </a:accent2>
      <a:accent3>
        <a:srgbClr val="D8D8D8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自定义 136">
      <a:majorFont>
        <a:latin typeface="思源黑体 CN Heavy"/>
        <a:ea typeface="思源宋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黑体"/>
        <a:font script="Hebr" typeface="黑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黑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商务风年中总结汇报通用模板</Template>
  <TotalTime>0</TotalTime>
  <Words>4273</Words>
  <Application>WPS 演示</Application>
  <PresentationFormat>全屏显示(16:9)</PresentationFormat>
  <Paragraphs>410</Paragraphs>
  <Slides>22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8" baseType="lpstr">
      <vt:lpstr>Arial</vt:lpstr>
      <vt:lpstr>宋体</vt:lpstr>
      <vt:lpstr>Wingdings</vt:lpstr>
      <vt:lpstr>思源黑体 CN Normal</vt:lpstr>
      <vt:lpstr>汉仪中黑KW</vt:lpstr>
      <vt:lpstr>黑体</vt:lpstr>
      <vt:lpstr>Oswald</vt:lpstr>
      <vt:lpstr>等线</vt:lpstr>
      <vt:lpstr>Aharoni</vt:lpstr>
      <vt:lpstr>苹方-简</vt:lpstr>
      <vt:lpstr>汉仪中等线KW</vt:lpstr>
      <vt:lpstr>宋体-简</vt:lpstr>
      <vt:lpstr>汉仪旗黑-50S</vt:lpstr>
      <vt:lpstr>思源黑体 CN Heavy</vt:lpstr>
      <vt:lpstr>思源宋体 CN Heavy</vt:lpstr>
      <vt:lpstr>汉仪书宋二KW</vt:lpstr>
      <vt:lpstr>微软雅黑</vt:lpstr>
      <vt:lpstr>汉仪旗黑</vt:lpstr>
      <vt:lpstr>宋体</vt:lpstr>
      <vt:lpstr>Arial Unicode MS</vt:lpstr>
      <vt:lpstr>思源黑体 CN Heavy</vt:lpstr>
      <vt:lpstr>思源宋体 CN Heavy</vt:lpstr>
      <vt:lpstr>思源黑体 CN Normal</vt:lpstr>
      <vt:lpstr>黑体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Teddy</cp:lastModifiedBy>
  <cp:revision>48</cp:revision>
  <dcterms:created xsi:type="dcterms:W3CDTF">2025-12-13T04:13:58Z</dcterms:created>
  <dcterms:modified xsi:type="dcterms:W3CDTF">2025-12-13T04:13:58Z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KSOTemplateUUID">
    <vt:lpwstr>v1.0_mb_DhxL/uU5GKoxM7/xTTZ3IQ==</vt:lpwstr>
  </property>
  <property fmtid="{D5CDD505-2E9C-101B-9397-08002B2CF9AE}" pid="4" name="ICV">
    <vt:lpwstr>95EA65EDE21A3FB4BFE13C6958391D84_43</vt:lpwstr>
  </property>
</Properties>
</file>